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0" r:id="rId1"/>
  </p:sldMasterIdLst>
  <p:sldIdLst>
    <p:sldId id="256" r:id="rId2"/>
    <p:sldId id="257" r:id="rId3"/>
    <p:sldId id="258" r:id="rId4"/>
    <p:sldId id="260" r:id="rId5"/>
    <p:sldId id="259" r:id="rId6"/>
    <p:sldId id="261" r:id="rId7"/>
    <p:sldId id="262" r:id="rId8"/>
    <p:sldId id="269" r:id="rId19"/>
    <p:sldId id="263" r:id="rId9"/>
    <p:sldId id="264" r:id="rId10"/>
    <p:sldId id="265" r:id="rId11"/>
    <p:sldId id="266" r:id="rId12"/>
    <p:sldId id="270" r:id="rId20"/>
    <p:sldId id="271" r:id="rId21"/>
    <p:sldId id="267" r:id="rId13"/>
    <p:sldId id="268" r:id="rId14"/>
    <p:sldId id="272" r:id="rId22"/>
    <p:sldId id="273" r:id="rId23"/>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418"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EB62FDA-C3A1-4485-94ED-8D5328978C71}" type="datetimeFigureOut">
              <a:rPr lang="en-US"/>
              <a:pPr>
                <a:defRPr/>
              </a:pPr>
              <a:t>10/5/2022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38A8F7E-26DE-43B8-861F-88D6AF6B6EA6}" type="slidenum">
              <a:rPr lang="en-US"/>
              <a:pPr>
                <a:defRPr/>
              </a:pPr>
              <a:t>‹#›</a:t>
            </a:fld>
            <a:endParaRPr lang="en-US"/>
          </a:p>
        </p:txBody>
      </p:sp>
    </p:spTree>
    <p:extLst>
      <p:ext uri="{BB962C8B-B14F-4D97-AF65-F5344CB8AC3E}">
        <p14:creationId xmlns:p14="http://schemas.microsoft.com/office/powerpoint/2010/main" val="65451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D8807AF-0B8F-471E-BA59-6B19150596A0}" type="datetimeFigureOut">
              <a:rPr lang="en-US"/>
              <a:pPr>
                <a:defRPr/>
              </a:pPr>
              <a:t>10/5/2022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360B40-061E-4F84-BA61-C2718CEB928D}" type="slidenum">
              <a:rPr lang="en-US"/>
              <a:pPr>
                <a:defRPr/>
              </a:pPr>
              <a:t>‹#›</a:t>
            </a:fld>
            <a:endParaRPr lang="en-US"/>
          </a:p>
        </p:txBody>
      </p:sp>
    </p:spTree>
    <p:extLst>
      <p:ext uri="{BB962C8B-B14F-4D97-AF65-F5344CB8AC3E}">
        <p14:creationId xmlns:p14="http://schemas.microsoft.com/office/powerpoint/2010/main" val="451735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03F4994-0678-42BF-89BB-2A2111B35EC2}" type="datetimeFigureOut">
              <a:rPr lang="en-US"/>
              <a:pPr>
                <a:defRPr/>
              </a:pPr>
              <a:t>10/5/2022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2806023-F377-4656-8959-B78E94F885EE}" type="slidenum">
              <a:rPr lang="en-US"/>
              <a:pPr>
                <a:defRPr/>
              </a:pPr>
              <a:t>‹#›</a:t>
            </a:fld>
            <a:endParaRPr lang="en-US"/>
          </a:p>
        </p:txBody>
      </p:sp>
    </p:spTree>
    <p:extLst>
      <p:ext uri="{BB962C8B-B14F-4D97-AF65-F5344CB8AC3E}">
        <p14:creationId xmlns:p14="http://schemas.microsoft.com/office/powerpoint/2010/main" val="842740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179BFE4-6C92-46A8-952F-57A802E8789E}" type="datetimeFigureOut">
              <a:rPr lang="en-US"/>
              <a:pPr>
                <a:defRPr/>
              </a:pPr>
              <a:t>10/5/2022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C023BD5-857C-4627-8055-65D381668FE6}" type="slidenum">
              <a:rPr lang="en-US"/>
              <a:pPr>
                <a:defRPr/>
              </a:pPr>
              <a:t>‹#›</a:t>
            </a:fld>
            <a:endParaRPr lang="en-US"/>
          </a:p>
        </p:txBody>
      </p:sp>
    </p:spTree>
    <p:extLst>
      <p:ext uri="{BB962C8B-B14F-4D97-AF65-F5344CB8AC3E}">
        <p14:creationId xmlns:p14="http://schemas.microsoft.com/office/powerpoint/2010/main" val="689393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010472BC-7C78-4A03-9929-F499D30448A0}" type="datetimeFigureOut">
              <a:rPr lang="en-US"/>
              <a:pPr>
                <a:defRPr/>
              </a:pPr>
              <a:t>10/5/2022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0CBC86D-773F-43FE-8E4D-65D76D8E08D9}" type="slidenum">
              <a:rPr lang="en-US"/>
              <a:pPr>
                <a:defRPr/>
              </a:pPr>
              <a:t>‹#›</a:t>
            </a:fld>
            <a:endParaRPr lang="en-US"/>
          </a:p>
        </p:txBody>
      </p:sp>
    </p:spTree>
    <p:extLst>
      <p:ext uri="{BB962C8B-B14F-4D97-AF65-F5344CB8AC3E}">
        <p14:creationId xmlns:p14="http://schemas.microsoft.com/office/powerpoint/2010/main" val="99586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C4A73C6-0042-455E-8B2F-75B2189B5283}" type="datetimeFigureOut">
              <a:rPr lang="en-US"/>
              <a:pPr>
                <a:defRPr/>
              </a:pPr>
              <a:t>10/5/2022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285154C-27AA-41D7-A83F-562448F81A60}" type="slidenum">
              <a:rPr lang="en-US"/>
              <a:pPr>
                <a:defRPr/>
              </a:pPr>
              <a:t>‹#›</a:t>
            </a:fld>
            <a:endParaRPr lang="en-US"/>
          </a:p>
        </p:txBody>
      </p:sp>
    </p:spTree>
    <p:extLst>
      <p:ext uri="{BB962C8B-B14F-4D97-AF65-F5344CB8AC3E}">
        <p14:creationId xmlns:p14="http://schemas.microsoft.com/office/powerpoint/2010/main" val="329679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45F7CCB-C2F4-44F8-A1ED-76504DF8BDBC}" type="datetimeFigureOut">
              <a:rPr lang="en-US"/>
              <a:pPr>
                <a:defRPr/>
              </a:pPr>
              <a:t>10/5/2022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E9D0B81-D738-47BD-B272-501509EDC67B}" type="slidenum">
              <a:rPr lang="en-US"/>
              <a:pPr>
                <a:defRPr/>
              </a:pPr>
              <a:t>‹#›</a:t>
            </a:fld>
            <a:endParaRPr lang="en-US"/>
          </a:p>
        </p:txBody>
      </p:sp>
    </p:spTree>
    <p:extLst>
      <p:ext uri="{BB962C8B-B14F-4D97-AF65-F5344CB8AC3E}">
        <p14:creationId xmlns:p14="http://schemas.microsoft.com/office/powerpoint/2010/main" val="2814504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5D84C3-2DCE-4BE0-9311-8CB1C190C7E8}" type="datetimeFigureOut">
              <a:rPr lang="en-US"/>
              <a:pPr>
                <a:defRPr/>
              </a:pPr>
              <a:t>10/5/2022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BA14EB9-794F-4DAA-84E7-248B4BED029C}" type="slidenum">
              <a:rPr lang="en-US"/>
              <a:pPr>
                <a:defRPr/>
              </a:pPr>
              <a:t>‹#›</a:t>
            </a:fld>
            <a:endParaRPr lang="en-US"/>
          </a:p>
        </p:txBody>
      </p:sp>
    </p:spTree>
    <p:extLst>
      <p:ext uri="{BB962C8B-B14F-4D97-AF65-F5344CB8AC3E}">
        <p14:creationId xmlns:p14="http://schemas.microsoft.com/office/powerpoint/2010/main" val="49276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3D5DE9F-D025-4A96-9436-A9B54598C24A}" type="datetimeFigureOut">
              <a:rPr lang="en-US"/>
              <a:pPr>
                <a:defRPr/>
              </a:pPr>
              <a:t>10/5/2022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08E42D6-2A26-479A-9B16-2F701678AE2C}" type="slidenum">
              <a:rPr lang="en-US"/>
              <a:pPr>
                <a:defRPr/>
              </a:pPr>
              <a:t>‹#›</a:t>
            </a:fld>
            <a:endParaRPr lang="en-US"/>
          </a:p>
        </p:txBody>
      </p:sp>
    </p:spTree>
    <p:extLst>
      <p:ext uri="{BB962C8B-B14F-4D97-AF65-F5344CB8AC3E}">
        <p14:creationId xmlns:p14="http://schemas.microsoft.com/office/powerpoint/2010/main" val="3061606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DF9D5E0-4F80-4C37-BE2D-2254170079DA}" type="datetimeFigureOut">
              <a:rPr lang="en-US"/>
              <a:pPr>
                <a:defRPr/>
              </a:pPr>
              <a:t>10/5/2022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EC21C67-2251-4F43-AF36-005A94535C90}" type="slidenum">
              <a:rPr lang="en-US"/>
              <a:pPr>
                <a:defRPr/>
              </a:pPr>
              <a:t>‹#›</a:t>
            </a:fld>
            <a:endParaRPr lang="en-US"/>
          </a:p>
        </p:txBody>
      </p:sp>
    </p:spTree>
    <p:extLst>
      <p:ext uri="{BB962C8B-B14F-4D97-AF65-F5344CB8AC3E}">
        <p14:creationId xmlns:p14="http://schemas.microsoft.com/office/powerpoint/2010/main" val="51302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F1E8BB8-8D90-489A-8AF2-46E7BE23BAFA}" type="datetimeFigureOut">
              <a:rPr lang="en-US"/>
              <a:pPr>
                <a:defRPr/>
              </a:pPr>
              <a:t>10/5/2022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2494F58-CD59-4AA2-8C1F-6EBD5A9D75BF}" type="slidenum">
              <a:rPr lang="en-US"/>
              <a:pPr>
                <a:defRPr/>
              </a:pPr>
              <a:t>‹#›</a:t>
            </a:fld>
            <a:endParaRPr lang="en-US"/>
          </a:p>
        </p:txBody>
      </p:sp>
    </p:spTree>
    <p:extLst>
      <p:ext uri="{BB962C8B-B14F-4D97-AF65-F5344CB8AC3E}">
        <p14:creationId xmlns:p14="http://schemas.microsoft.com/office/powerpoint/2010/main" val="34534070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A63F3F4-13F2-4143-9618-08A48950E4B2}" type="datetimeFigureOut">
              <a:rPr lang="en-US"/>
              <a:pPr>
                <a:defRPr/>
              </a:pPr>
              <a:t>10/5/2022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59A044B-FC12-4343-995C-1E329064C69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dirty="0"/>
              <a:t>Final Year Project Proposal</a:t>
            </a:r>
          </a:p>
        </p:txBody>
      </p:sp>
      <p:sp>
        <p:nvSpPr>
          <p:cNvPr id="5123" name="Subtitle 2"/>
          <p:cNvSpPr>
            <a:spLocks noGrp="1"/>
          </p:cNvSpPr>
          <p:nvPr>
            <p:ph type="subTitle" idx="1"/>
          </p:nvPr>
        </p:nvSpPr>
        <p:spPr/>
        <p:txBody>
          <a:bodyPr rtlCol="0">
            <a:normAutofit/>
          </a:bodyPr>
          <a:lstStyle/>
          <a:p>
            <a:pPr marL="63500" eaLnBrk="1" fontAlgn="auto" hangingPunct="1">
              <a:spcAft>
                <a:spcPts val="0"/>
              </a:spcAft>
              <a:buFont typeface="Arial" pitchFamily="34" charset="0"/>
              <a:buNone/>
              <a:defRPr/>
            </a:pPr>
            <a:r>
              <a:rPr sz="2000"/>
              <a:t>Riphah Konnect — A University-Exclusive Academic Collaboration Platform</a:t>
            </a:r>
          </a:p>
          <a:p>
            <a:pPr/>
            <a:r>
              <a:rPr sz="1400"/>
              <a:t>Supervised By: Mr. Raja Jalees-ul-Hussen Khan (Senior Lecturer)</a:t>
            </a:r>
          </a:p>
        </p:txBody>
      </p:sp>
      <p:pic>
        <p:nvPicPr>
          <p:cNvPr id="2052" name="Picture 3" descr="Riphah.jpg"/>
          <p:cNvPicPr>
            <a:picLocks noChangeAspect="1"/>
          </p:cNvPicPr>
          <p:nvPr/>
        </p:nvPicPr>
        <p:blipFill>
          <a:blip r:embed="rId3" cstate="screen">
            <a:extLst>
              <a:ext uri="{28A0092B-C50C-407E-A947-70E740481C1C}">
                <a14:useLocalDpi xmlns:a14="http://schemas.microsoft.com/office/drawing/2010/main"/>
              </a:ext>
            </a:extLst>
          </a:blip>
          <a:srcRect l="3033" t="4065" r="6926" b="4926"/>
          <a:stretch>
            <a:fillRect/>
          </a:stretch>
        </p:blipFill>
        <p:spPr bwMode="auto">
          <a:xfrm>
            <a:off x="4076700" y="1295400"/>
            <a:ext cx="99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t>Project Team</a:t>
            </a:r>
          </a:p>
        </p:txBody>
      </p:sp>
      <p:sp>
        <p:nvSpPr>
          <p:cNvPr id="3075" name="Content Placeholder 2"/>
          <p:cNvSpPr>
            <a:spLocks noGrp="1"/>
          </p:cNvSpPr>
          <p:nvPr>
            <p:ph idx="1"/>
          </p:nvPr>
        </p:nvSpPr>
        <p:spPr/>
        <p:txBody>
          <a:bodyPr/>
          <a:lstStyle/>
          <a:p>
            <a:pPr eaLnBrk="1" hangingPunct="1"/>
            <a:r>
              <a:rPr sz="2000"/>
              <a:t>Moiz Ahmad Abbasi   —   CMS# 45499</a:t>
            </a:r>
          </a:p>
          <a:p>
            <a:pPr/>
            <a:r>
              <a:rPr sz="2000"/>
              <a:t>Obaidullah Arshad   —   CMS# 44316</a:t>
            </a:r>
          </a:p>
          <a:p>
            <a:pPr/>
            <a:r>
              <a:rPr sz="2000"/>
              <a:t>Syed Airaf Khan     —   CMS# 47647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t>Table of Content</a:t>
            </a:r>
          </a:p>
        </p:txBody>
      </p:sp>
      <p:sp>
        <p:nvSpPr>
          <p:cNvPr id="4099" name="Content Placeholder 2"/>
          <p:cNvSpPr>
            <a:spLocks noGrp="1"/>
          </p:cNvSpPr>
          <p:nvPr>
            <p:ph idx="1"/>
          </p:nvPr>
        </p:nvSpPr>
        <p:spPr/>
        <p:txBody>
          <a:bodyPr/>
          <a:lstStyle/>
          <a:p>
            <a:pPr eaLnBrk="1" hangingPunct="1"/>
            <a:r>
              <a:rPr sz="1700"/>
              <a:t>1.  Existing University Community Platforms — What They Do</a:t>
            </a:r>
          </a:p>
          <a:p>
            <a:pPr/>
            <a:r>
              <a:rPr sz="1700"/>
              <a:t>2.  Feature Gap Analysis — What They Are Missing</a:t>
            </a:r>
          </a:p>
          <a:p>
            <a:pPr/>
            <a:r>
              <a:rPr sz="1700"/>
              <a:t>3.  The Four Identified Gaps — Our Project Justification</a:t>
            </a:r>
          </a:p>
          <a:p>
            <a:pPr/>
            <a:r>
              <a:rPr sz="1700"/>
              <a:t>4.  Problem Statement</a:t>
            </a:r>
          </a:p>
          <a:p>
            <a:pPr/>
            <a:r>
              <a:rPr sz="1700"/>
              <a:t>5.  Proposed Solution: Riphah Konnect</a:t>
            </a:r>
          </a:p>
          <a:p>
            <a:pPr/>
            <a:r>
              <a:rPr sz="1700"/>
              <a:t>6.  Core Modules &amp; Features</a:t>
            </a:r>
          </a:p>
          <a:p>
            <a:pPr/>
            <a:r>
              <a:rPr sz="1700"/>
              <a:t>7.  System Architecture &amp; Technology Stack</a:t>
            </a:r>
          </a:p>
          <a:p>
            <a:pPr/>
            <a:r>
              <a:rPr sz="1700"/>
              <a:t>8.  Project Scope</a:t>
            </a:r>
          </a:p>
          <a:p>
            <a:pPr/>
            <a:r>
              <a:rPr sz="1700"/>
              <a:t>9.  Summary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r>
              <a:t>Existing University Community Platforms</a:t>
            </a:r>
          </a:p>
        </p:txBody>
      </p:sp>
      <p:sp>
        <p:nvSpPr>
          <p:cNvPr id="8195" name="Text Placeholder 4"/>
          <p:cNvSpPr>
            <a:spLocks noGrp="1"/>
          </p:cNvSpPr>
          <p:nvPr>
            <p:ph type="body" idx="1"/>
          </p:nvPr>
        </p:nvSpPr>
        <p:spPr/>
        <p:txBody>
          <a:bodyPr rtlCol="0">
            <a:normAutofit/>
          </a:bodyPr>
          <a:lstStyle/>
          <a:p>
            <a:pPr marL="44450" eaLnBrk="1" fontAlgn="auto" hangingPunct="1">
              <a:spcAft>
                <a:spcPts val="0"/>
              </a:spcAft>
              <a:buFont typeface="Arial" pitchFamily="34" charset="0"/>
              <a:buNone/>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t>Existing University Community Platforms — What They Do</a:t>
            </a:r>
          </a:p>
        </p:txBody>
      </p:sp>
      <p:sp>
        <p:nvSpPr>
          <p:cNvPr id="6147" name="Content Placeholder 2"/>
          <p:cNvSpPr>
            <a:spLocks noGrp="1"/>
          </p:cNvSpPr>
          <p:nvPr>
            <p:ph idx="1"/>
          </p:nvPr>
        </p:nvSpPr>
        <p:spPr/>
        <p:txBody>
          <a:bodyPr/>
          <a:lstStyle/>
          <a:p>
            <a:pPr eaLnBrk="1" hangingPunct="1"/>
            <a:r>
              <a:rPr b="1" sz="1300"/>
              <a:t>Unii  </a:t>
            </a:r>
            <a:r>
              <a:rPr b="0" sz="1300"/>
              <a:t>(UK, 2012 – present — 12+ years active, 100,000+ users in first 6 months)</a:t>
            </a:r>
            <a:endParaRPr lang="en-US"/>
          </a:p>
          <a:p>
            <a:pPr lvl="1"/>
            <a:r>
              <a:rPr sz="1100"/>
              <a:t>University email verification (.ac.uk) — verified access to campus community</a:t>
            </a:r>
          </a:p>
          <a:p>
            <a:pPr lvl="1"/>
            <a:r>
              <a:rPr sz="1100"/>
              <a:t>Student social profiles visible only to verified students</a:t>
            </a:r>
          </a:p>
          <a:p>
            <a:pPr lvl="1"/>
            <a:r>
              <a:rPr sz="1100"/>
              <a:t>Campus community feed, peer messaging, some group features</a:t>
            </a:r>
          </a:p>
          <a:p>
            <a:pPr lvl="1"/>
            <a:r>
              <a:rPr sz="1100"/>
              <a:t>Also offers: book trading, accommodation finder, job board (UK-specific)</a:t>
            </a:r>
          </a:p>
          <a:p>
            <a:pPr/>
            <a:r>
              <a:rPr sz="400"/>
              <a:t/>
            </a:r>
          </a:p>
          <a:p>
            <a:pPr/>
            <a:r>
              <a:rPr b="1" sz="1300"/>
              <a:t>UniLife  </a:t>
            </a:r>
            <a:r>
              <a:rPr b="0" sz="1300"/>
              <a:t>(Australia — active, partnered with University of Melbourne, UNSW, University of Tasmania and others)</a:t>
            </a:r>
          </a:p>
          <a:p>
            <a:pPr lvl="1"/>
            <a:r>
              <a:rPr sz="1100"/>
              <a:t>University email verification, student communities and groups</a:t>
            </a:r>
          </a:p>
          <a:p>
            <a:pPr lvl="1"/>
            <a:r>
              <a:rPr sz="1100"/>
              <a:t>Campus event discovery and RSVP, student organizations directory</a:t>
            </a:r>
          </a:p>
          <a:p>
            <a:pPr lvl="1"/>
            <a:r>
              <a:rPr sz="1100"/>
              <a:t>Peer mentoring / buddy system (senior-junior matching, informal)</a:t>
            </a:r>
          </a:p>
          <a:p>
            <a:pPr lvl="1"/>
            <a:r>
              <a:rPr sz="1100"/>
              <a:t>Campus news and announcements, social meetup coordination</a:t>
            </a:r>
          </a:p>
          <a:p>
            <a:pPr/>
            <a:r>
              <a:rPr sz="400"/>
              <a:t/>
            </a:r>
          </a:p>
          <a:p>
            <a:pPr/>
            <a:r>
              <a:rPr b="1" sz="1300"/>
              <a:t>Facebook Campus  </a:t>
            </a:r>
            <a:r>
              <a:rPr b="0" sz="1300"/>
              <a:t>(US, 2020 – 2022 — 204 universities enrolled, discontinued due to poor in-app discoverability, NOT lack of demand)</a:t>
            </a:r>
          </a:p>
          <a:p>
            <a:pPr lvl="1"/>
            <a:r>
              <a:rPr sz="1100"/>
              <a:t>.edu email verification, campus-exclusive student profiles</a:t>
            </a:r>
          </a:p>
          <a:p>
            <a:pPr lvl="1"/>
            <a:r>
              <a:rPr sz="1100"/>
              <a:t>Campus news feed, campus events, campus groups, peer messaging</a:t>
            </a:r>
          </a:p>
          <a:p>
            <a:pPr lvl="1"/>
            <a:r>
              <a:rPr sz="1100"/>
              <a:t>Proves the concept: even Facebook — with unlimited resources — built exactly this type of platform because the need is real</a:t>
            </a:r>
          </a:p>
          <a:p>
            <a:pPr/>
            <a:r>
              <a:rPr sz="400"/>
              <a:t/>
            </a:r>
          </a:p>
          <a:p>
            <a:pPr/>
            <a:r>
              <a:rPr b="1" sz="1300"/>
              <a:t>CampusGroups  </a:t>
            </a:r>
            <a:r>
              <a:rPr b="0" sz="1300"/>
              <a:t>(US, 2007 – present — actively used at 190+ universities including Stanford, Cornell, Princeton, Duke)</a:t>
            </a:r>
          </a:p>
          <a:p>
            <a:pPr lvl="1"/>
            <a:r>
              <a:rPr sz="1100"/>
              <a:t>Institutional access, student profiles, campus activity feed</a:t>
            </a:r>
          </a:p>
          <a:p>
            <a:pPr lvl="1"/>
            <a:r>
              <a:rPr sz="1100"/>
              <a:t>Strong event management: creation, registration, RSVP, attendance</a:t>
            </a:r>
          </a:p>
          <a:p>
            <a:pPr lvl="1"/>
            <a:r>
              <a:rPr sz="1100"/>
              <a:t>Student organisation and club management with member directories</a:t>
            </a:r>
          </a:p>
          <a:p>
            <a:pPr lvl="1"/>
            <a:r>
              <a:rPr sz="1100"/>
              <a:t>No peer-to-peer messaging; focused on org/event management, not community</a:t>
            </a:r>
          </a:p>
          <a:p>
            <a:pPr/>
            <a:r>
              <a:rPr sz="400"/>
              <a:t/>
            </a:r>
          </a:p>
          <a:p>
            <a:pPr/>
            <a:r>
              <a:rPr b="1" sz="1200"/>
              <a:t>All four platforms validate the same core concept: universities need a verified, structured digital community platform. None are deployed in Pakistan. And all four share the same four missing capabilities — shown in the gap analysis on the next slide.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r>
              <a:t>Feature Gap Analysis</a:t>
            </a:r>
          </a:p>
        </p:txBody>
      </p:sp>
      <p:sp>
        <p:nvSpPr>
          <p:cNvPr id="10243" name="Text Placeholder 4"/>
          <p:cNvSpPr>
            <a:spLocks noGrp="1"/>
          </p:cNvSpPr>
          <p:nvPr>
            <p:ph type="body" idx="1"/>
          </p:nvPr>
        </p:nvSpPr>
        <p:spPr/>
        <p:txBody>
          <a:bodyPr rtlCol="0">
            <a:normAutofit/>
          </a:bodyPr>
          <a:lstStyle/>
          <a:p>
            <a:pPr marL="44450" eaLnBrk="1" fontAlgn="auto" hangingPunct="1">
              <a:spcAft>
                <a:spcPts val="0"/>
              </a:spcAft>
              <a:buFont typeface="Arial" pitchFamily="34" charset="0"/>
              <a:buNone/>
              <a:defRPr/>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t>What the Existing Platforms Are Missing</a:t>
            </a:r>
          </a:p>
        </p:txBody>
      </p:sp>
      <p:sp>
        <p:nvSpPr>
          <p:cNvPr id="8195" name="Content Placeholder 2"/>
          <p:cNvSpPr>
            <a:spLocks noGrp="1"/>
          </p:cNvSpPr>
          <p:nvPr>
            <p:ph idx="1"/>
          </p:nvPr>
        </p:nvSpPr>
        <p:spPr/>
        <p:txBody>
          <a:bodyPr/>
          <a:lstStyle/>
          <a:p>
            <a:pPr eaLnBrk="1" hangingPunct="1"/>
            <a:r>
              <a:rPr b="1" sz="1400"/>
              <a:t>Gap 1 — No Smart Event Lifecycle Management</a:t>
            </a:r>
            <a:endParaRPr lang="en-US"/>
          </a:p>
          <a:p>
            <a:pPr lvl="1"/>
            <a:r>
              <a:rPr sz="1200"/>
              <a:t>All four platforms offer a basic event calendar. None support a complete event workflow: admin-defined event types, smart notifications that reach only the right students based on department and semester, and an automated post-event report with attendance and engagement data.</a:t>
            </a:r>
          </a:p>
          <a:p>
            <a:pPr lvl="1"/>
            <a:r>
              <a:rPr sz="1200"/>
              <a:t>At Riphah, events are announced over WhatsApp broadcasts and notice boards. Reach is unpredictable, RSVP is impossible, and there is no record of who attended or how well the event performed.</a:t>
            </a:r>
          </a:p>
          <a:p>
            <a:pPr/>
            <a:r>
              <a:rPr sz="400"/>
              <a:t/>
            </a:r>
          </a:p>
          <a:p>
            <a:pPr/>
            <a:r>
              <a:rPr b="1" sz="1400"/>
              <a:t>Gap 2 — No Campus Engagement Intelligence</a:t>
            </a:r>
          </a:p>
          <a:p>
            <a:pPr lvl="1"/>
            <a:r>
              <a:rPr sz="1200"/>
              <a:t>No comparison platform tracks or surfaces campus participation data. Universities have no automated visibility into which departments are engaged, which events are underperforming, or which students are disengaged from campus life.</a:t>
            </a:r>
          </a:p>
          <a:p>
            <a:pPr lvl="1"/>
            <a:r>
              <a:rPr sz="1200"/>
              <a:t>Riphah Konnect automatically generates a Campus Engagement Dashboard: live participation metrics by department and semester, individual student activity scores built from real platform actions, and automated weekly digests — all without any manual data collection.</a:t>
            </a:r>
          </a:p>
          <a:p>
            <a:pPr/>
            <a:r>
              <a:rPr sz="400"/>
              <a:t/>
            </a:r>
          </a:p>
          <a:p>
            <a:pPr/>
            <a:r>
              <a:rPr b="1" sz="1400"/>
              <a:t>Gap 3 — No Campus Lost &amp; Found Module</a:t>
            </a:r>
          </a:p>
          <a:p>
            <a:pPr lvl="1"/>
            <a:r>
              <a:rPr sz="1200"/>
              <a:t>None of the four platforms include campus utility modules. Lost &amp; Found at Riphah currently runs on unverified Facebook groups and WhatsApp broadcasts — open to anyone, no accountability.</a:t>
            </a:r>
          </a:p>
          <a:p>
            <a:pPr lvl="1"/>
            <a:r>
              <a:rPr sz="1200"/>
              <a:t>Riphah Konnect provides a structured Lost &amp; Found module where every post is by a verified Riphah student. Contact between finder and owner happens through the platform with no personal information exposed.</a:t>
            </a:r>
          </a:p>
          <a:p>
            <a:pPr/>
            <a:r>
              <a:rPr sz="400"/>
              <a:t/>
            </a:r>
          </a:p>
          <a:p>
            <a:pPr/>
            <a:r>
              <a:rPr b="1" sz="1400"/>
              <a:t>Gap 4 — No University Admin Moderation Authority</a:t>
            </a:r>
          </a:p>
          <a:p>
            <a:pPr lvl="1"/>
            <a:r>
              <a:rPr sz="1200"/>
              <a:t>On every comparison platform the university can report content but cannot moderate it, access audit logs, or enforce its own code of conduct. Moderation is owned by the commercial platform, not the institution.</a:t>
            </a:r>
          </a:p>
          <a:p>
            <a:pPr lvl="1"/>
            <a:r>
              <a:rPr sz="1200"/>
              <a:t>Riphah Konnect provides a native admin panel: content removal, user role management, audit logs, and policy enforcement under Riphah’s own code of conduct.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Problem Statement</a:t>
            </a:r>
          </a:p>
        </p:txBody>
      </p:sp>
      <p:sp>
        <p:nvSpPr>
          <p:cNvPr id="12291" name="Text Placeholder 4"/>
          <p:cNvSpPr>
            <a:spLocks noGrp="1"/>
          </p:cNvSpPr>
          <p:nvPr>
            <p:ph type="body" idx="1"/>
          </p:nvPr>
        </p:nvSpPr>
        <p:spPr/>
        <p:txBody>
          <a:bodyPr rtlCol="0">
            <a:normAutofit/>
          </a:bodyPr>
          <a:lstStyle/>
          <a:p>
            <a:pPr marL="44450" eaLnBrk="1" fontAlgn="auto" hangingPunct="1">
              <a:spcAft>
                <a:spcPts val="0"/>
              </a:spcAft>
              <a:buFont typeface="Arial" pitchFamily="34" charset="0"/>
              <a:buNone/>
              <a:defRPr/>
            </a:pP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t>Problem Statement</a:t>
            </a:r>
          </a:p>
        </p:txBody>
      </p:sp>
      <p:sp>
        <p:nvSpPr>
          <p:cNvPr id="10243" name="Content Placeholder 2"/>
          <p:cNvSpPr>
            <a:spLocks noGrp="1"/>
          </p:cNvSpPr>
          <p:nvPr>
            <p:ph idx="1"/>
          </p:nvPr>
        </p:nvSpPr>
        <p:spPr/>
        <p:txBody>
          <a:bodyPr/>
          <a:lstStyle/>
          <a:p>
            <a:pPr eaLnBrk="1" hangingPunct="1"/>
            <a:r>
              <a:rPr sz="1300"/>
              <a:t>University community platforms exist globally and are proven to work. Riphah International University students have access to none of them. And even if they did, four specific gaps would remain unaddressed.</a:t>
            </a:r>
            <a:endParaRPr lang="en-US"/>
          </a:p>
          <a:p>
            <a:pPr/>
            <a:r>
              <a:rPr sz="400"/>
              <a:t/>
            </a:r>
          </a:p>
          <a:p>
            <a:pPr/>
            <a:r>
              <a:rPr b="1" sz="1400"/>
              <a:t>What Riphah students currently use — and why each fails:</a:t>
            </a:r>
          </a:p>
          <a:p>
            <a:pPr lvl="1"/>
            <a:r>
              <a:rPr b="1" sz="1200"/>
              <a:t>WhatsApp groups: </a:t>
            </a:r>
            <a:r>
              <a:rPr b="0" sz="1200"/>
              <a:t>no member verification, no content history for new students, knowledge lost every semester when groups are recreated, anyone can be added without any institutional check</a:t>
            </a:r>
          </a:p>
          <a:p>
            <a:pPr lvl="1"/>
            <a:r>
              <a:rPr b="1" sz="1200"/>
              <a:t>Facebook groups: </a:t>
            </a:r>
            <a:r>
              <a:rPr b="0" sz="1200"/>
              <a:t>open to non-students, unmoderated, academic content mixed with noise, no institutional oversight whatsoever</a:t>
            </a:r>
          </a:p>
          <a:p>
            <a:pPr lvl="1"/>
            <a:r>
              <a:rPr b="1" sz="1200"/>
              <a:t>Notice boards / email: </a:t>
            </a:r>
            <a:r>
              <a:rPr b="0" sz="1200"/>
              <a:t>no digital reach, no RSVP, events routinely missed, no search, no history</a:t>
            </a:r>
          </a:p>
          <a:p>
            <a:pPr/>
            <a:r>
              <a:rPr sz="400"/>
              <a:t/>
            </a:r>
          </a:p>
          <a:p>
            <a:pPr/>
            <a:r>
              <a:rPr b="1" sz="1400"/>
              <a:t>The four documented gaps no existing platform solves:</a:t>
            </a:r>
          </a:p>
          <a:p>
            <a:pPr lvl="1"/>
            <a:r>
              <a:rPr b="1" sz="1200"/>
              <a:t>Smart Event Lifecycle Management: </a:t>
            </a:r>
            <a:r>
              <a:rPr b="0" sz="1200"/>
              <a:t>no platform combines admin-typed events, smart department/semester-based notifications, and automated post-event attendance and engagement reports</a:t>
            </a:r>
          </a:p>
          <a:p>
            <a:pPr lvl="1"/>
            <a:r>
              <a:rPr b="1" sz="1200"/>
              <a:t>Campus Engagement Intelligence: </a:t>
            </a:r>
            <a:r>
              <a:rPr b="0" sz="1200"/>
              <a:t>no platform automatically tracks student participation, generates engagement scores, or gives admin live visibility into campus activity patterns</a:t>
            </a:r>
          </a:p>
          <a:p>
            <a:pPr lvl="1"/>
            <a:r>
              <a:rPr b="1" sz="1200"/>
              <a:t>Campus Lost &amp; Found Module: </a:t>
            </a:r>
            <a:r>
              <a:rPr b="0" sz="1200"/>
              <a:t>no university community platform includes a verified-only campus utility module for lost and found items</a:t>
            </a:r>
          </a:p>
          <a:p>
            <a:pPr lvl="1"/>
            <a:r>
              <a:rPr b="1" sz="1200"/>
              <a:t>University Admin Moderation Authority: </a:t>
            </a:r>
            <a:r>
              <a:rPr b="0" sz="1200"/>
              <a:t>no platform gives the institution moderation control, audit logs, or the ability to enforce its own code of conduct</a:t>
            </a:r>
          </a:p>
          <a:p>
            <a:pPr/>
            <a:r>
              <a:rPr sz="400"/>
              <a:t/>
            </a:r>
          </a:p>
          <a:p>
            <a:pPr/>
            <a:r>
              <a:rPr b="1" sz="1300"/>
              <a:t>Riphah Konnect fills all four gaps simultaneously.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Proposed Solution</a:t>
            </a:r>
          </a:p>
        </p:txBody>
      </p:sp>
      <p:sp>
        <p:nvSpPr>
          <p:cNvPr id="14339" name="Text Placeholder 4"/>
          <p:cNvSpPr>
            <a:spLocks noGrp="1"/>
          </p:cNvSpPr>
          <p:nvPr>
            <p:ph type="body" idx="1"/>
          </p:nvPr>
        </p:nvSpPr>
        <p:spPr/>
        <p:txBody>
          <a:bodyPr rtlCol="0">
            <a:normAutofit/>
          </a:bodyPr>
          <a:lstStyle/>
          <a:p>
            <a:pPr marL="44450" eaLnBrk="1" fontAlgn="auto" hangingPunct="1">
              <a:spcAft>
                <a:spcPts val="0"/>
              </a:spcAft>
              <a:buFont typeface="Arial" pitchFamily="34" charset="0"/>
              <a:buNone/>
              <a:defRPr/>
            </a:pP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t>Proposed Solution: Riphah Konnect</a:t>
            </a:r>
          </a:p>
        </p:txBody>
      </p:sp>
      <p:sp>
        <p:nvSpPr>
          <p:cNvPr id="12291" name="Content Placeholder 2"/>
          <p:cNvSpPr>
            <a:spLocks noGrp="1"/>
          </p:cNvSpPr>
          <p:nvPr>
            <p:ph idx="1"/>
          </p:nvPr>
        </p:nvSpPr>
        <p:spPr/>
        <p:txBody>
          <a:bodyPr/>
          <a:lstStyle/>
          <a:p>
            <a:pPr eaLnBrk="1" hangingPunct="1"/>
            <a:r>
              <a:rPr sz="1300"/>
              <a:t>A university-exclusive academic collaboration and campus engagement platform for Riphah International University — combining everything the global platforms do well and filling the four gaps they all leave open.</a:t>
            </a:r>
            <a:endParaRPr lang="en-US"/>
          </a:p>
          <a:p>
            <a:pPr/>
            <a:r>
              <a:rPr sz="400"/>
              <a:t/>
            </a:r>
          </a:p>
          <a:p>
            <a:pPr/>
            <a:r>
              <a:rPr b="1" sz="1400"/>
              <a:t>What we share with global platforms (validated concept):</a:t>
            </a:r>
          </a:p>
          <a:p>
            <a:pPr lvl="1"/>
            <a:r>
              <a:rPr sz="1200"/>
              <a:t>University email verification and verified-only access</a:t>
            </a:r>
          </a:p>
          <a:p>
            <a:pPr lvl="1"/>
            <a:r>
              <a:rPr sz="1200"/>
              <a:t>Student social profiles with posts, comments, activity feed</a:t>
            </a:r>
          </a:p>
          <a:p>
            <a:pPr lvl="1"/>
            <a:r>
              <a:rPr sz="1200"/>
              <a:t>Campus community feed — single source of truth for campus activity</a:t>
            </a:r>
          </a:p>
          <a:p>
            <a:pPr lvl="1"/>
            <a:r>
              <a:rPr sz="1200"/>
              <a:t>Campus event calendar with RSVP</a:t>
            </a:r>
          </a:p>
          <a:p>
            <a:pPr lvl="1"/>
            <a:r>
              <a:rPr sz="1200"/>
              <a:t>Student groups and communities</a:t>
            </a:r>
          </a:p>
          <a:p>
            <a:pPr lvl="1"/>
            <a:r>
              <a:rPr sz="1200"/>
              <a:t>Peer-to-peer messaging</a:t>
            </a:r>
          </a:p>
          <a:p>
            <a:pPr/>
            <a:r>
              <a:rPr sz="400"/>
              <a:t/>
            </a:r>
          </a:p>
          <a:p>
            <a:pPr/>
            <a:r>
              <a:rPr b="1" sz="1400"/>
              <a:t>What we add that no existing platform provides (the four gaps):</a:t>
            </a:r>
          </a:p>
          <a:p>
            <a:pPr lvl="1"/>
            <a:r>
              <a:rPr b="1" sz="1200"/>
              <a:t>Smart Event Lifecycle Management (Gap 1): </a:t>
            </a:r>
            <a:r>
              <a:rPr b="0" sz="1200"/>
              <a:t>admin-created events with defined types; smart notifications routed by department and semester; RSVP; automated post-event attendance and engagement reports</a:t>
            </a:r>
          </a:p>
          <a:p>
            <a:pPr lvl="1"/>
            <a:r>
              <a:rPr b="1" sz="1200"/>
              <a:t>Campus Engagement Intelligence Dashboard (Gap 2): </a:t>
            </a:r>
            <a:r>
              <a:rPr b="0" sz="1200"/>
              <a:t>automatically tracks all platform activity into participation scores; admin dashboard with live engagement metrics by dept/semester; student personal campus activity record</a:t>
            </a:r>
          </a:p>
          <a:p>
            <a:pPr lvl="1"/>
            <a:r>
              <a:rPr b="1" sz="1200"/>
              <a:t>Campus Lost &amp; Found Module (Gap 3): </a:t>
            </a:r>
            <a:r>
              <a:rPr b="0" sz="1200"/>
              <a:t>verified-only lost and found board; in-platform contact between finder and owner; no personal information exposed</a:t>
            </a:r>
          </a:p>
          <a:p>
            <a:pPr lvl="1"/>
            <a:r>
              <a:rPr b="1" sz="1200"/>
              <a:t>University Admin Moderation Panel (Gap 4): </a:t>
            </a:r>
            <a:r>
              <a:rPr b="0" sz="1200"/>
              <a:t>native dashboard for content moderation, user management, audit logs, and Riphah’s own code of conduct enforcement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Project Scope</a:t>
            </a:r>
          </a:p>
        </p:txBody>
      </p:sp>
      <p:sp>
        <p:nvSpPr>
          <p:cNvPr id="16387" name="Text Placeholder 4"/>
          <p:cNvSpPr>
            <a:spLocks noGrp="1"/>
          </p:cNvSpPr>
          <p:nvPr>
            <p:ph type="body" idx="1"/>
          </p:nvPr>
        </p:nvSpPr>
        <p:spPr/>
        <p:txBody>
          <a:bodyPr rtlCol="0">
            <a:normAutofit/>
          </a:bodyPr>
          <a:lstStyle/>
          <a:p>
            <a:pPr marL="44450" eaLnBrk="1" fontAlgn="auto" hangingPunct="1">
              <a:spcAft>
                <a:spcPts val="0"/>
              </a:spcAft>
              <a:buFont typeface="Arial" pitchFamily="34" charset="0"/>
              <a:buNone/>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t>Project Scope</a:t>
            </a:r>
          </a:p>
        </p:txBody>
      </p:sp>
      <p:sp>
        <p:nvSpPr>
          <p:cNvPr id="14339" name="Content Placeholder 2"/>
          <p:cNvSpPr>
            <a:spLocks noGrp="1"/>
          </p:cNvSpPr>
          <p:nvPr>
            <p:ph idx="1"/>
          </p:nvPr>
        </p:nvSpPr>
        <p:spPr/>
        <p:txBody>
          <a:bodyPr/>
          <a:lstStyle/>
          <a:p>
            <a:pPr eaLnBrk="1" hangingPunct="1"/>
            <a:r>
              <a:rPr b="1" sz="1400"/>
              <a:t>In Scope — FYP Deliverables:</a:t>
            </a:r>
            <a:endParaRPr lang="en-US"/>
          </a:p>
          <a:p>
            <a:pPr lvl="1"/>
            <a:r>
              <a:rPr sz="1100"/>
              <a:t>University-only registration: @students.riphah.edu.pk email OTP verification</a:t>
            </a:r>
          </a:p>
          <a:p>
            <a:pPr lvl="1"/>
            <a:r>
              <a:rPr sz="1100"/>
              <a:t>Student profiles: department, semester, courses, posts, comments</a:t>
            </a:r>
          </a:p>
          <a:p>
            <a:pPr lvl="1"/>
            <a:r>
              <a:rPr sz="1100"/>
              <a:t>Campus community feed with posts and interactions</a:t>
            </a:r>
          </a:p>
          <a:p>
            <a:pPr lvl="1"/>
            <a:r>
              <a:rPr sz="1100"/>
              <a:t>Smart Event Management: admin-defined event types, department/semester-targeted smart notifications, RSVP, automated post-event attendance and engagement reports</a:t>
            </a:r>
          </a:p>
          <a:p>
            <a:pPr lvl="1"/>
            <a:r>
              <a:rPr sz="1100"/>
              <a:t>Peer-to-peer messaging between verified students</a:t>
            </a:r>
          </a:p>
          <a:p>
            <a:pPr lvl="1"/>
            <a:r>
              <a:rPr sz="1100"/>
              <a:t>Campus Engagement Intelligence Dashboard: automated student activity scores, admin live metrics, personal participation records</a:t>
            </a:r>
          </a:p>
          <a:p>
            <a:pPr lvl="1"/>
            <a:r>
              <a:rPr sz="1100"/>
              <a:t>Lost &amp; Found module: verified-only posts, in-platform secure contact, no personal info exposed</a:t>
            </a:r>
          </a:p>
          <a:p>
            <a:pPr lvl="1"/>
            <a:r>
              <a:rPr sz="1100"/>
              <a:t>University Admin Moderation Panel: content moderation, user roles, audit logs, Riphah code of conduct enforcement</a:t>
            </a:r>
          </a:p>
          <a:p>
            <a:pPr lvl="1"/>
            <a:r>
              <a:rPr sz="1100"/>
              <a:t>Responsive web application: React.js + Supabase (PostgreSQL + Auth + Realtime) + Django</a:t>
            </a:r>
          </a:p>
          <a:p>
            <a:pPr/>
            <a:r>
              <a:rPr sz="400"/>
              <a:t/>
            </a:r>
          </a:p>
          <a:p>
            <a:pPr/>
            <a:r>
              <a:rPr b="1" sz="1400"/>
              <a:t>Explicitly Out of Scope:</a:t>
            </a:r>
          </a:p>
          <a:p>
            <a:pPr lvl="1"/>
            <a:r>
              <a:rPr b="1" sz="1100"/>
              <a:t>External institutional system integration </a:t>
            </a:r>
            <a:r>
              <a:rPr b="0" sz="1100"/>
              <a:t>(academic records, ERP, LMS): requires formal data governance agreements and API authorization — enterprise constraints treated as a separate post-FYP initiative</a:t>
            </a:r>
          </a:p>
          <a:p>
            <a:pPr lvl="1"/>
            <a:r>
              <a:rPr sz="1100"/>
              <a:t>Native mobile application (Android / iOS)</a:t>
            </a:r>
          </a:p>
          <a:p>
            <a:pPr lvl="1"/>
            <a:r>
              <a:rPr sz="1100"/>
              <a:t>AI-based recommendation engine</a:t>
            </a:r>
          </a:p>
          <a:p>
            <a:pPr lvl="1"/>
            <a:r>
              <a:rPr sz="1100"/>
              <a:t>Student marketplace or commerce features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Gap Analysis — University Community Platforms Compared</a:t>
            </a:r>
          </a:p>
        </p:txBody>
      </p:sp>
      <p:graphicFrame>
        <p:nvGraphicFramePr>
          <p:cNvPr id="3" name="Table 2"/>
          <p:cNvGraphicFramePr>
            <a:graphicFrameLocks noGrp="1"/>
          </p:cNvGraphicFramePr>
          <p:nvPr/>
        </p:nvGraphicFramePr>
        <p:xfrm>
          <a:off x="228600" y="1170432"/>
          <a:ext cx="8686800" cy="4434840"/>
        </p:xfrm>
        <a:graphic>
          <a:graphicData uri="http://schemas.openxmlformats.org/drawingml/2006/table">
            <a:tbl>
              <a:tblPr firstRow="1" bandRow="1">
                <a:tableStyleId>{5C22544A-7EE6-4342-B048-85BDC9FD1C3A}</a:tableStyleId>
              </a:tblPr>
              <a:tblGrid>
                <a:gridCol w="1965960"/>
                <a:gridCol w="1680210"/>
                <a:gridCol w="1680210"/>
                <a:gridCol w="1680210"/>
                <a:gridCol w="1680210"/>
              </a:tblGrid>
              <a:tr h="403167">
                <a:tc>
                  <a:txBody>
                    <a:bodyPr wrap="square"/>
                    <a:lstStyle/>
                    <a:p>
                      <a:pPr algn="l">
                        <a:spcBef>
                          <a:spcPts val="0"/>
                        </a:spcBef>
                        <a:spcAft>
                          <a:spcPts val="0"/>
                        </a:spcAft>
                      </a:pPr>
                      <a:r>
                        <a:rPr sz="1000" b="1">
                          <a:solidFill>
                            <a:srgbClr val="FFFFFF"/>
                          </a:solidFill>
                        </a:rPr>
                        <a:t>Feature</a:t>
                      </a:r>
                    </a:p>
                  </a:txBody>
                  <a:tcPr anchor="ctr">
                    <a:solidFill>
                      <a:srgbClr val="002147"/>
                    </a:solidFill>
                  </a:tcPr>
                </a:tc>
                <a:tc>
                  <a:txBody>
                    <a:bodyPr wrap="square"/>
                    <a:lstStyle/>
                    <a:p>
                      <a:pPr algn="ctr">
                        <a:spcBef>
                          <a:spcPts val="0"/>
                        </a:spcBef>
                        <a:spcAft>
                          <a:spcPts val="0"/>
                        </a:spcAft>
                      </a:pPr>
                      <a:r>
                        <a:rPr sz="800" b="1">
                          <a:solidFill>
                            <a:srgbClr val="FFFFFF"/>
                          </a:solidFill>
                        </a:rPr>
                        <a:t>Unii</a:t>
                      </a:r>
                    </a:p>
                    <a:p>
                      <a:pPr algn="ctr">
                        <a:spcBef>
                          <a:spcPts val="0"/>
                        </a:spcBef>
                        <a:spcAft>
                          <a:spcPts val="0"/>
                        </a:spcAft>
                      </a:pPr>
                      <a:r>
                        <a:rPr sz="800" b="1">
                          <a:solidFill>
                            <a:srgbClr val="FFFFFF"/>
                          </a:solidFill>
                        </a:rPr>
                        <a:t>(UK)</a:t>
                      </a:r>
                    </a:p>
                  </a:txBody>
                  <a:tcPr anchor="ctr">
                    <a:solidFill>
                      <a:srgbClr val="002147"/>
                    </a:solidFill>
                  </a:tcPr>
                </a:tc>
                <a:tc>
                  <a:txBody>
                    <a:bodyPr wrap="square"/>
                    <a:lstStyle/>
                    <a:p>
                      <a:pPr algn="ctr">
                        <a:spcBef>
                          <a:spcPts val="0"/>
                        </a:spcBef>
                        <a:spcAft>
                          <a:spcPts val="0"/>
                        </a:spcAft>
                      </a:pPr>
                      <a:r>
                        <a:rPr sz="800" b="1">
                          <a:solidFill>
                            <a:srgbClr val="FFFFFF"/>
                          </a:solidFill>
                        </a:rPr>
                        <a:t>UniLife</a:t>
                      </a:r>
                    </a:p>
                    <a:p>
                      <a:pPr algn="ctr">
                        <a:spcBef>
                          <a:spcPts val="0"/>
                        </a:spcBef>
                        <a:spcAft>
                          <a:spcPts val="0"/>
                        </a:spcAft>
                      </a:pPr>
                      <a:r>
                        <a:rPr sz="800" b="1">
                          <a:solidFill>
                            <a:srgbClr val="FFFFFF"/>
                          </a:solidFill>
                        </a:rPr>
                        <a:t>(AU)</a:t>
                      </a:r>
                    </a:p>
                  </a:txBody>
                  <a:tcPr anchor="ctr">
                    <a:solidFill>
                      <a:srgbClr val="002147"/>
                    </a:solidFill>
                  </a:tcPr>
                </a:tc>
                <a:tc>
                  <a:txBody>
                    <a:bodyPr wrap="square"/>
                    <a:lstStyle/>
                    <a:p>
                      <a:pPr algn="ctr">
                        <a:spcBef>
                          <a:spcPts val="0"/>
                        </a:spcBef>
                        <a:spcAft>
                          <a:spcPts val="0"/>
                        </a:spcAft>
                      </a:pPr>
                      <a:r>
                        <a:rPr sz="800" b="1">
                          <a:solidFill>
                            <a:srgbClr val="FFFFFF"/>
                          </a:solidFill>
                        </a:rPr>
                        <a:t>FB Campus</a:t>
                      </a:r>
                    </a:p>
                    <a:p>
                      <a:pPr algn="ctr">
                        <a:spcBef>
                          <a:spcPts val="0"/>
                        </a:spcBef>
                        <a:spcAft>
                          <a:spcPts val="0"/>
                        </a:spcAft>
                      </a:pPr>
                      <a:r>
                        <a:rPr sz="800" b="1">
                          <a:solidFill>
                            <a:srgbClr val="FFFFFF"/>
                          </a:solidFill>
                        </a:rPr>
                        <a:t>(US, †)</a:t>
                      </a:r>
                    </a:p>
                  </a:txBody>
                  <a:tcPr anchor="ctr">
                    <a:solidFill>
                      <a:srgbClr val="002147"/>
                    </a:solidFill>
                  </a:tcPr>
                </a:tc>
                <a:tc>
                  <a:txBody>
                    <a:bodyPr wrap="square"/>
                    <a:lstStyle/>
                    <a:p>
                      <a:pPr algn="ctr">
                        <a:spcBef>
                          <a:spcPts val="0"/>
                        </a:spcBef>
                        <a:spcAft>
                          <a:spcPts val="0"/>
                        </a:spcAft>
                      </a:pPr>
                      <a:r>
                        <a:rPr sz="800" b="1">
                          <a:solidFill>
                            <a:srgbClr val="FFFFFF"/>
                          </a:solidFill>
                        </a:rPr>
                        <a:t>CampusGroups</a:t>
                      </a:r>
                    </a:p>
                    <a:p>
                      <a:pPr algn="ctr">
                        <a:spcBef>
                          <a:spcPts val="0"/>
                        </a:spcBef>
                        <a:spcAft>
                          <a:spcPts val="0"/>
                        </a:spcAft>
                      </a:pPr>
                      <a:r>
                        <a:rPr sz="800" b="1">
                          <a:solidFill>
                            <a:srgbClr val="FFFFFF"/>
                          </a:solidFill>
                        </a:rPr>
                        <a:t>(190+ Univs.)</a:t>
                      </a:r>
                    </a:p>
                  </a:txBody>
                  <a:tcPr anchor="ctr">
                    <a:solidFill>
                      <a:srgbClr val="002147"/>
                    </a:solidFill>
                  </a:tcPr>
                </a:tc>
              </a:tr>
              <a:tr h="403167">
                <a:tc>
                  <a:txBody>
                    <a:bodyPr wrap="square"/>
                    <a:lstStyle/>
                    <a:p>
                      <a:pPr algn="l">
                        <a:spcBef>
                          <a:spcPts val="0"/>
                        </a:spcBef>
                        <a:spcAft>
                          <a:spcPts val="0"/>
                        </a:spcAft>
                      </a:pPr>
                      <a:r>
                        <a:rPr sz="900" b="0"/>
                        <a:t>Univ.-Exclusive</a:t>
                      </a:r>
                    </a:p>
                    <a:p>
                      <a:pPr algn="l">
                        <a:spcBef>
                          <a:spcPts val="0"/>
                        </a:spcBef>
                        <a:spcAft>
                          <a:spcPts val="0"/>
                        </a:spcAft>
                      </a:pPr>
                      <a:r>
                        <a:rPr sz="900" b="0"/>
                        <a:t>Verified Access</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r>
              <a:tr h="403167">
                <a:tc>
                  <a:txBody>
                    <a:bodyPr wrap="square"/>
                    <a:lstStyle/>
                    <a:p>
                      <a:pPr algn="l">
                        <a:spcBef>
                          <a:spcPts val="0"/>
                        </a:spcBef>
                        <a:spcAft>
                          <a:spcPts val="0"/>
                        </a:spcAft>
                      </a:pPr>
                      <a:r>
                        <a:rPr sz="900" b="0"/>
                        <a:t>Student Social</a:t>
                      </a:r>
                    </a:p>
                    <a:p>
                      <a:pPr algn="l">
                        <a:spcBef>
                          <a:spcPts val="0"/>
                        </a:spcBef>
                        <a:spcAft>
                          <a:spcPts val="0"/>
                        </a:spcAft>
                      </a:pPr>
                      <a:r>
                        <a:rPr sz="900" b="0"/>
                        <a:t>Profiles</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r>
              <a:tr h="403167">
                <a:tc>
                  <a:txBody>
                    <a:bodyPr wrap="square"/>
                    <a:lstStyle/>
                    <a:p>
                      <a:pPr algn="l">
                        <a:spcBef>
                          <a:spcPts val="0"/>
                        </a:spcBef>
                        <a:spcAft>
                          <a:spcPts val="0"/>
                        </a:spcAft>
                      </a:pPr>
                      <a:r>
                        <a:rPr sz="900" b="0"/>
                        <a:t>Campus</a:t>
                      </a:r>
                    </a:p>
                    <a:p>
                      <a:pPr algn="l">
                        <a:spcBef>
                          <a:spcPts val="0"/>
                        </a:spcBef>
                        <a:spcAft>
                          <a:spcPts val="0"/>
                        </a:spcAft>
                      </a:pPr>
                      <a:r>
                        <a:rPr sz="900" b="0"/>
                        <a:t>Community Feed</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r>
              <a:tr h="403167">
                <a:tc>
                  <a:txBody>
                    <a:bodyPr wrap="square"/>
                    <a:lstStyle/>
                    <a:p>
                      <a:pPr algn="l">
                        <a:spcBef>
                          <a:spcPts val="0"/>
                        </a:spcBef>
                        <a:spcAft>
                          <a:spcPts val="0"/>
                        </a:spcAft>
                      </a:pPr>
                      <a:r>
                        <a:rPr sz="900" b="0"/>
                        <a:t>Event Calendar</a:t>
                      </a:r>
                    </a:p>
                    <a:p>
                      <a:pPr algn="l">
                        <a:spcBef>
                          <a:spcPts val="0"/>
                        </a:spcBef>
                        <a:spcAft>
                          <a:spcPts val="0"/>
                        </a:spcAft>
                      </a:pPr>
                      <a:r>
                        <a:rPr sz="900" b="0"/>
                        <a:t>&amp; RSVP</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r>
              <a:tr h="403167">
                <a:tc>
                  <a:txBody>
                    <a:bodyPr wrap="square"/>
                    <a:lstStyle/>
                    <a:p>
                      <a:pPr algn="l">
                        <a:spcBef>
                          <a:spcPts val="0"/>
                        </a:spcBef>
                        <a:spcAft>
                          <a:spcPts val="0"/>
                        </a:spcAft>
                      </a:pPr>
                      <a:r>
                        <a:rPr sz="900" b="0"/>
                        <a:t>Student Groups</a:t>
                      </a:r>
                    </a:p>
                    <a:p>
                      <a:pPr algn="l">
                        <a:spcBef>
                          <a:spcPts val="0"/>
                        </a:spcBef>
                        <a:spcAft>
                          <a:spcPts val="0"/>
                        </a:spcAft>
                      </a:pPr>
                      <a:r>
                        <a:rPr sz="900" b="0"/>
                        <a:t>&amp; Communities</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c>
                  <a:txBody>
                    <a:bodyPr wrap="square"/>
                    <a:lstStyle/>
                    <a:p>
                      <a:pPr algn="ctr">
                        <a:spcBef>
                          <a:spcPts val="0"/>
                        </a:spcBef>
                        <a:spcAft>
                          <a:spcPts val="0"/>
                        </a:spcAft>
                      </a:pPr>
                      <a:r>
                        <a:rPr sz="1200" b="1">
                          <a:solidFill>
                            <a:srgbClr val="1E7E34"/>
                          </a:solidFill>
                        </a:rPr>
                        <a:t>✓</a:t>
                      </a:r>
                    </a:p>
                  </a:txBody>
                  <a:tcPr anchor="ctr">
                    <a:solidFill>
                      <a:srgbClr val="DDEAF7"/>
                    </a:solidFill>
                  </a:tcPr>
                </a:tc>
              </a:tr>
              <a:tr h="403167">
                <a:tc>
                  <a:txBody>
                    <a:bodyPr wrap="square"/>
                    <a:lstStyle/>
                    <a:p>
                      <a:pPr algn="l">
                        <a:spcBef>
                          <a:spcPts val="0"/>
                        </a:spcBef>
                        <a:spcAft>
                          <a:spcPts val="0"/>
                        </a:spcAft>
                      </a:pPr>
                      <a:r>
                        <a:rPr sz="900" b="0"/>
                        <a:t>Peer-to-Peer</a:t>
                      </a:r>
                    </a:p>
                    <a:p>
                      <a:pPr algn="l">
                        <a:spcBef>
                          <a:spcPts val="0"/>
                        </a:spcBef>
                        <a:spcAft>
                          <a:spcPts val="0"/>
                        </a:spcAft>
                      </a:pPr>
                      <a:r>
                        <a:rPr sz="900" b="0"/>
                        <a:t>Messaging</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1">
                          <a:solidFill>
                            <a:srgbClr val="1E7E34"/>
                          </a:solidFill>
                        </a:rPr>
                        <a:t>✓</a:t>
                      </a:r>
                    </a:p>
                  </a:txBody>
                  <a:tcPr anchor="ctr">
                    <a:solidFill>
                      <a:srgbClr val="EBF2FA"/>
                    </a:solidFill>
                  </a:tcPr>
                </a:tc>
                <a:tc>
                  <a:txBody>
                    <a:bodyPr wrap="square"/>
                    <a:lstStyle/>
                    <a:p>
                      <a:pPr algn="ctr">
                        <a:spcBef>
                          <a:spcPts val="0"/>
                        </a:spcBef>
                        <a:spcAft>
                          <a:spcPts val="0"/>
                        </a:spcAft>
                      </a:pPr>
                      <a:r>
                        <a:rPr sz="1200" b="0">
                          <a:solidFill>
                            <a:srgbClr val="BD2020"/>
                          </a:solidFill>
                        </a:rPr>
                        <a:t>✗</a:t>
                      </a:r>
                    </a:p>
                  </a:txBody>
                  <a:tcPr anchor="ctr">
                    <a:solidFill>
                      <a:srgbClr val="EBF2FA"/>
                    </a:solidFill>
                  </a:tcPr>
                </a:tc>
              </a:tr>
              <a:tr h="403167">
                <a:tc>
                  <a:txBody>
                    <a:bodyPr wrap="square"/>
                    <a:lstStyle/>
                    <a:p>
                      <a:pPr algn="l">
                        <a:spcBef>
                          <a:spcPts val="0"/>
                        </a:spcBef>
                        <a:spcAft>
                          <a:spcPts val="0"/>
                        </a:spcAft>
                      </a:pPr>
                      <a:r>
                        <a:rPr sz="900" b="1"/>
                        <a:t>Smart Event Mgmt.</a:t>
                      </a:r>
                    </a:p>
                    <a:p>
                      <a:pPr algn="l">
                        <a:spcBef>
                          <a:spcPts val="0"/>
                        </a:spcBef>
                        <a:spcAft>
                          <a:spcPts val="0"/>
                        </a:spcAft>
                      </a:pPr>
                      <a:r>
                        <a:rPr sz="900" b="1"/>
                        <a:t>&amp; Engagement Reports</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r>
              <a:tr h="403167">
                <a:tc>
                  <a:txBody>
                    <a:bodyPr wrap="square"/>
                    <a:lstStyle/>
                    <a:p>
                      <a:pPr algn="l">
                        <a:spcBef>
                          <a:spcPts val="0"/>
                        </a:spcBef>
                        <a:spcAft>
                          <a:spcPts val="0"/>
                        </a:spcAft>
                      </a:pPr>
                      <a:r>
                        <a:rPr sz="900" b="1"/>
                        <a:t>Campus Engagement</a:t>
                      </a:r>
                    </a:p>
                    <a:p>
                      <a:pPr algn="l">
                        <a:spcBef>
                          <a:spcPts val="0"/>
                        </a:spcBef>
                        <a:spcAft>
                          <a:spcPts val="0"/>
                        </a:spcAft>
                      </a:pPr>
                      <a:r>
                        <a:rPr sz="900" b="1"/>
                        <a:t>Intelligence Dashboard</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r>
              <a:tr h="403167">
                <a:tc>
                  <a:txBody>
                    <a:bodyPr wrap="square"/>
                    <a:lstStyle/>
                    <a:p>
                      <a:pPr algn="l">
                        <a:spcBef>
                          <a:spcPts val="0"/>
                        </a:spcBef>
                        <a:spcAft>
                          <a:spcPts val="0"/>
                        </a:spcAft>
                      </a:pPr>
                      <a:r>
                        <a:rPr sz="900" b="1"/>
                        <a:t>Campus Lost</a:t>
                      </a:r>
                    </a:p>
                    <a:p>
                      <a:pPr algn="l">
                        <a:spcBef>
                          <a:spcPts val="0"/>
                        </a:spcBef>
                        <a:spcAft>
                          <a:spcPts val="0"/>
                        </a:spcAft>
                      </a:pPr>
                      <a:r>
                        <a:rPr sz="900" b="1"/>
                        <a:t>&amp; Found Module</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c>
                  <a:txBody>
                    <a:bodyPr wrap="square"/>
                    <a:lstStyle/>
                    <a:p>
                      <a:pPr algn="ctr">
                        <a:spcBef>
                          <a:spcPts val="0"/>
                        </a:spcBef>
                        <a:spcAft>
                          <a:spcPts val="0"/>
                        </a:spcAft>
                      </a:pPr>
                      <a:r>
                        <a:rPr sz="1200" b="0">
                          <a:solidFill>
                            <a:srgbClr val="BD2020"/>
                          </a:solidFill>
                        </a:rPr>
                        <a:t>✗</a:t>
                      </a:r>
                    </a:p>
                  </a:txBody>
                  <a:tcPr anchor="ctr">
                    <a:solidFill>
                      <a:srgbClr val="FDF0D0"/>
                    </a:solidFill>
                  </a:tcPr>
                </a:tc>
              </a:tr>
              <a:tr h="403170">
                <a:tc>
                  <a:txBody>
                    <a:bodyPr wrap="square"/>
                    <a:lstStyle/>
                    <a:p>
                      <a:pPr algn="l">
                        <a:spcBef>
                          <a:spcPts val="0"/>
                        </a:spcBef>
                        <a:spcAft>
                          <a:spcPts val="0"/>
                        </a:spcAft>
                      </a:pPr>
                      <a:r>
                        <a:rPr sz="900" b="1"/>
                        <a:t>University Admin</a:t>
                      </a:r>
                    </a:p>
                    <a:p>
                      <a:pPr algn="l">
                        <a:spcBef>
                          <a:spcPts val="0"/>
                        </a:spcBef>
                        <a:spcAft>
                          <a:spcPts val="0"/>
                        </a:spcAft>
                      </a:pPr>
                      <a:r>
                        <a:rPr sz="900" b="1"/>
                        <a:t>Moderation Panel</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c>
                  <a:txBody>
                    <a:bodyPr wrap="square"/>
                    <a:lstStyle/>
                    <a:p>
                      <a:pPr algn="ctr">
                        <a:spcBef>
                          <a:spcPts val="0"/>
                        </a:spcBef>
                        <a:spcAft>
                          <a:spcPts val="0"/>
                        </a:spcAft>
                      </a:pPr>
                      <a:r>
                        <a:rPr sz="1200" b="0">
                          <a:solidFill>
                            <a:srgbClr val="BD2020"/>
                          </a:solidFill>
                        </a:rPr>
                        <a:t>✗</a:t>
                      </a:r>
                    </a:p>
                  </a:txBody>
                  <a:tcPr anchor="ctr">
                    <a:solidFill>
                      <a:srgbClr val="FEF6E4"/>
                    </a:solidFill>
                  </a:tcPr>
                </a:tc>
              </a:tr>
            </a:tbl>
          </a:graphicData>
        </a:graphic>
      </p:graphicFrame>
      <p:sp>
        <p:nvSpPr>
          <p:cNvPr id="4" name="TextBox 3"/>
          <p:cNvSpPr txBox="1"/>
          <p:nvPr/>
        </p:nvSpPr>
        <p:spPr>
          <a:xfrm>
            <a:off x="0" y="1170432"/>
            <a:ext cx="201168" cy="2651760"/>
          </a:xfrm>
          <a:prstGeom prst="rect">
            <a:avLst/>
          </a:prstGeom>
          <a:noFill/>
        </p:spPr>
        <p:txBody>
          <a:bodyPr wrap="none">
            <a:spAutoFit/>
          </a:bodyPr>
          <a:lstStyle/>
          <a:p>
            <a:r>
              <a:rPr sz="550" b="1">
                <a:solidFill>
                  <a:srgbClr val="003388"/>
                </a:solidFill>
              </a:rPr>
              <a:t>S H A R E D   F E A T U R E S</a:t>
            </a:r>
          </a:p>
        </p:txBody>
      </p:sp>
      <p:sp>
        <p:nvSpPr>
          <p:cNvPr id="5" name="TextBox 4"/>
          <p:cNvSpPr txBox="1"/>
          <p:nvPr/>
        </p:nvSpPr>
        <p:spPr>
          <a:xfrm>
            <a:off x="0" y="3931920"/>
            <a:ext cx="201168" cy="1691640"/>
          </a:xfrm>
          <a:prstGeom prst="rect">
            <a:avLst/>
          </a:prstGeom>
          <a:noFill/>
        </p:spPr>
        <p:txBody>
          <a:bodyPr wrap="none">
            <a:spAutoFit/>
          </a:bodyPr>
          <a:lstStyle/>
          <a:p>
            <a:r>
              <a:rPr sz="550" b="1">
                <a:solidFill>
                  <a:srgbClr val="B35A00"/>
                </a:solidFill>
              </a:rPr>
              <a:t>I D E N T I F I E D   G A P S</a:t>
            </a:r>
          </a:p>
        </p:txBody>
      </p:sp>
      <p:sp>
        <p:nvSpPr>
          <p:cNvPr id="6" name="TextBox 5"/>
          <p:cNvSpPr txBox="1"/>
          <p:nvPr/>
        </p:nvSpPr>
        <p:spPr>
          <a:xfrm>
            <a:off x="228600" y="5669280"/>
            <a:ext cx="8686800" cy="1051560"/>
          </a:xfrm>
          <a:prstGeom prst="rect">
            <a:avLst/>
          </a:prstGeom>
          <a:noFill/>
        </p:spPr>
        <p:txBody>
          <a:bodyPr wrap="square">
            <a:spAutoFit/>
          </a:bodyPr>
          <a:lstStyle/>
          <a:p>
            <a:pPr>
              <a:spcAft>
                <a:spcPts val="200"/>
              </a:spcAft>
            </a:pPr>
            <a:r>
              <a:rPr sz="800" b="1">
                <a:solidFill>
                  <a:srgbClr val="1E7E34"/>
                </a:solidFill>
              </a:rPr>
              <a:t>✓ Available    </a:t>
            </a:r>
            <a:r>
              <a:rPr sz="800" b="0">
                <a:solidFill>
                  <a:srgbClr val="BD2020"/>
                </a:solidFill>
              </a:rPr>
              <a:t>✗ Not available    </a:t>
            </a:r>
            <a:r>
              <a:rPr sz="800" b="0">
                <a:solidFill>
                  <a:srgbClr val="444444"/>
                </a:solidFill>
              </a:rPr>
              <a:t>† Facebook Campus discontinued Jan 2022 — poor in-app discoverability, not lack of demand    </a:t>
            </a:r>
            <a:r>
              <a:rPr sz="800" b="0">
                <a:solidFill>
                  <a:srgbClr val="444444"/>
                </a:solidFill>
              </a:rPr>
              <a:t>CampusGroups: used at Stanford, Cornell, Princeton, Duke, and 190+ other universities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Modules &amp; Features</a:t>
            </a:r>
          </a:p>
        </p:txBody>
      </p:sp>
      <p:sp>
        <p:nvSpPr>
          <p:cNvPr id="3" name="Content Placeholder 2"/>
          <p:cNvSpPr>
            <a:spLocks noGrp="1"/>
          </p:cNvSpPr>
          <p:nvPr>
            <p:ph idx="1"/>
          </p:nvPr>
        </p:nvSpPr>
        <p:spPr/>
        <p:txBody>
          <a:bodyPr/>
          <a:lstStyle/>
          <a:p>
            <a:pPr/>
            <a:r>
              <a:rPr b="1" sz="1300">
                <a:solidFill>
                  <a:srgbClr val="003388"/>
                </a:solidFill>
              </a:rPr>
              <a:t>Foundation — Shared with Global Platforms:</a:t>
            </a:r>
          </a:p>
          <a:p>
            <a:pPr lvl="1"/>
            <a:r>
              <a:rPr sz="1100"/>
              <a:t>Verified enrollment: @students.riphah.edu.pk email OTP — no outsider can join</a:t>
            </a:r>
          </a:p>
          <a:p>
            <a:pPr lvl="1"/>
            <a:r>
              <a:rPr sz="1100"/>
              <a:t>Student profiles: department, semester, bio, activity history</a:t>
            </a:r>
          </a:p>
          <a:p>
            <a:pPr lvl="1"/>
            <a:r>
              <a:rPr sz="1100"/>
              <a:t>Campus community feed: posts, comments, reactions</a:t>
            </a:r>
          </a:p>
          <a:p>
            <a:pPr lvl="1"/>
            <a:r>
              <a:rPr sz="1100"/>
              <a:t>Student groups &amp; communities, peer-to-peer messaging</a:t>
            </a:r>
          </a:p>
          <a:p>
            <a:pPr/>
            <a:r>
              <a:rPr sz="300"/>
              <a:t/>
            </a:r>
          </a:p>
          <a:p>
            <a:pPr/>
            <a:r>
              <a:rPr b="1" sz="1300">
                <a:solidFill>
                  <a:srgbClr val="B35A00"/>
                </a:solidFill>
              </a:rPr>
              <a:t>Gap-Filling Modules (What No Other Platform Has):</a:t>
            </a:r>
          </a:p>
          <a:p>
            <a:pPr lvl="1"/>
            <a:r>
              <a:rPr b="1" sz="1100"/>
              <a:t>Smart Event Management (Gap 1): </a:t>
            </a:r>
            <a:r>
              <a:rPr b="0" sz="1100"/>
              <a:t>admin creates events with a defined type (academic / sports / cultural / social); platform auto-notifies only relevant students based on their department and semester; RSVP with capacity limit; automated post-event report generated on event close</a:t>
            </a:r>
          </a:p>
          <a:p>
            <a:pPr lvl="1"/>
            <a:r>
              <a:rPr b="1" sz="1100"/>
              <a:t>Campus Engagement Intelligence Dashboard (Gap 2): </a:t>
            </a:r>
            <a:r>
              <a:rPr b="0" sz="1100"/>
              <a:t>every platform action — RSVP, attend, post, message — automatically updates the student’s Campus Activity Score; admin sees a live dashboard: engagement by dept/semester, event performance trends, and disengagement alerts; students see their own participation record</a:t>
            </a:r>
          </a:p>
          <a:p>
            <a:pPr lvl="1"/>
            <a:r>
              <a:rPr b="1" sz="1100"/>
              <a:t>Lost &amp; Found Module (Gap 3): </a:t>
            </a:r>
            <a:r>
              <a:rPr b="0" sz="1100"/>
              <a:t>post lost items with description and location; found items reported similarly; verified-student-only contact through the platform; no phone number or personal info ever exposed</a:t>
            </a:r>
          </a:p>
          <a:p>
            <a:pPr lvl="1"/>
            <a:r>
              <a:rPr b="1" sz="1100"/>
              <a:t>University Admin Moderation Panel (Gap 4): </a:t>
            </a:r>
            <a:r>
              <a:rPr b="0" sz="1100"/>
              <a:t>role-based permissions (admin / moderator / student); content removal, user suspension, audit logs; enforcement of Riphah’s own code of conduct — not a commercial platform’s terms of service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 &amp; Technology Stack</a:t>
            </a:r>
          </a:p>
        </p:txBody>
      </p:sp>
      <p:sp>
        <p:nvSpPr>
          <p:cNvPr id="3" name="Content Placeholder 2"/>
          <p:cNvSpPr>
            <a:spLocks noGrp="1"/>
          </p:cNvSpPr>
          <p:nvPr>
            <p:ph idx="1"/>
          </p:nvPr>
        </p:nvSpPr>
        <p:spPr/>
        <p:txBody>
          <a:bodyPr/>
          <a:lstStyle/>
          <a:p>
            <a:pPr/>
            <a:r>
              <a:rPr b="1" sz="1300"/>
              <a:t>Frontend: </a:t>
            </a:r>
            <a:r>
              <a:rPr b="0" sz="1300"/>
              <a:t>React.js — responsive SPA; Tailwind CSS; React Router</a:t>
            </a:r>
          </a:p>
          <a:p>
            <a:pPr/>
            <a:r>
              <a:rPr b="1" sz="1300"/>
              <a:t>Backend / BaaS: </a:t>
            </a:r>
            <a:r>
              <a:rPr b="0" sz="1300"/>
              <a:t>Supabase — authentication, realtime, file storage, Row-Level Security (RLS)</a:t>
            </a:r>
          </a:p>
          <a:p>
            <a:pPr/>
            <a:r>
              <a:rPr b="1" sz="1300"/>
              <a:t>Database: </a:t>
            </a:r>
            <a:r>
              <a:rPr b="0" sz="1300"/>
              <a:t>PostgreSQL (via Supabase) — relational, ACID-compliant; RLS enforces user-level data access</a:t>
            </a:r>
          </a:p>
          <a:p>
            <a:pPr/>
            <a:r>
              <a:rPr b="1" sz="1300"/>
              <a:t>Custom API Layer: </a:t>
            </a:r>
            <a:r>
              <a:rPr b="0" sz="1300"/>
              <a:t>Django (Python) — complex business logic, background jobs, permission management</a:t>
            </a:r>
          </a:p>
          <a:p>
            <a:pPr/>
            <a:r>
              <a:rPr b="1" sz="1300"/>
              <a:t>Authentication: </a:t>
            </a:r>
            <a:r>
              <a:rPr b="0" sz="1300"/>
              <a:t>Supabase Auth — email OTP restricted to @students.riphah.edu.pk at platform level</a:t>
            </a:r>
          </a:p>
          <a:p>
            <a:pPr/>
            <a:r>
              <a:rPr sz="500"/>
              <a:t/>
            </a:r>
          </a:p>
          <a:p>
            <a:pPr/>
            <a:r>
              <a:rPr b="1" sz="1400"/>
              <a:t>Architecture: Client-Server with BaaS Layer</a:t>
            </a:r>
          </a:p>
          <a:p>
            <a:pPr lvl="1"/>
            <a:r>
              <a:rPr sz="1200"/>
              <a:t>React ↔ Supabase: auth, database queries, realtime, file storage</a:t>
            </a:r>
          </a:p>
          <a:p>
            <a:pPr lvl="1"/>
            <a:r>
              <a:rPr sz="1200"/>
              <a:t>React ↔ Django REST API: permission logic, server-side processing</a:t>
            </a:r>
          </a:p>
          <a:p>
            <a:pPr/>
            <a:r>
              <a:rPr sz="500"/>
              <a:t/>
            </a:r>
          </a:p>
          <a:p>
            <a:pPr/>
            <a:r>
              <a:rPr b="1" sz="1400"/>
              <a:t>How the Architecture Supports the Four Gap Modules:</a:t>
            </a:r>
          </a:p>
          <a:p>
            <a:pPr lvl="1"/>
            <a:r>
              <a:rPr b="1" sz="1200"/>
              <a:t>Smart Notifications (Gap 1): </a:t>
            </a:r>
            <a:r>
              <a:rPr b="0" sz="1200"/>
              <a:t>Django background jobs evaluate department/semester profile tags and dispatch targeted push notifications per event type</a:t>
            </a:r>
          </a:p>
          <a:p>
            <a:pPr lvl="1"/>
            <a:r>
              <a:rPr b="1" sz="1200"/>
              <a:t>Engagement Analytics (Gap 2): </a:t>
            </a:r>
            <a:r>
              <a:rPr b="0" sz="1200"/>
              <a:t>PostgreSQL aggregation queries; Django computes activity scores from user action logs; Supabase Realtime pushes live dashboard updates</a:t>
            </a:r>
          </a:p>
          <a:p>
            <a:pPr lvl="1"/>
            <a:r>
              <a:rPr b="1" sz="1200"/>
              <a:t>Admin Moderation (Gap 4): </a:t>
            </a:r>
            <a:r>
              <a:rPr b="0" sz="1200"/>
              <a:t>Row-Level Security in Supabase enforces role-based data access; Django REST API exposes moderation endpoints to admin dashboard only</a:t>
            </a:r>
          </a:p>
          <a:p>
            <a:pPr lvl="1"/>
            <a:r>
              <a:rPr b="1" sz="1200"/>
              <a:t>Domain Restriction (all modules): </a:t>
            </a:r>
            <a:r>
              <a:rPr b="0" sz="1200"/>
              <a:t>Supabase Auth blocks any non-@students.riphah.edu.pk registration at the authentication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Expansion Roadmap (Post-FYP)</a:t>
            </a:r>
          </a:p>
        </p:txBody>
      </p:sp>
      <p:sp>
        <p:nvSpPr>
          <p:cNvPr id="3" name="Content Placeholder 2"/>
          <p:cNvSpPr>
            <a:spLocks noGrp="1"/>
          </p:cNvSpPr>
          <p:nvPr>
            <p:ph idx="1"/>
          </p:nvPr>
        </p:nvSpPr>
        <p:spPr/>
        <p:txBody>
          <a:bodyPr/>
          <a:lstStyle/>
          <a:p>
            <a:pPr/>
            <a:r>
              <a:rPr b="1" sz="1500"/>
              <a:t>Phase 2 — Platform Maturity:</a:t>
            </a:r>
          </a:p>
          <a:p>
            <a:pPr lvl="1"/>
            <a:r>
              <a:rPr sz="1300"/>
              <a:t>Rent Out Module: verified students list and lend textbooks and academic resources (safe by design — every user is traceable)</a:t>
            </a:r>
          </a:p>
          <a:p>
            <a:pPr lvl="1"/>
            <a:r>
              <a:rPr sz="1300"/>
              <a:t>Administration Analytics Dashboard: event attendance, group activity, engagement metrics for university admin</a:t>
            </a:r>
          </a:p>
          <a:p>
            <a:pPr lvl="1"/>
            <a:r>
              <a:rPr sz="1300"/>
              <a:t>Department Sub-Communities: dedicated spaces per faculty / department</a:t>
            </a:r>
          </a:p>
          <a:p>
            <a:pPr/>
            <a:r>
              <a:rPr sz="500"/>
              <a:t/>
            </a:r>
          </a:p>
          <a:p>
            <a:pPr/>
            <a:r>
              <a:rPr b="1" sz="1500"/>
              <a:t>Phase 3 — Advanced Features:</a:t>
            </a:r>
          </a:p>
          <a:p>
            <a:pPr lvl="1"/>
            <a:r>
              <a:rPr sz="1300"/>
              <a:t>AI-based study partner recommendation (match by course, skill level, learning preferences)</a:t>
            </a:r>
          </a:p>
          <a:p>
            <a:pPr lvl="1"/>
            <a:r>
              <a:rPr sz="1300"/>
              <a:t>Student marketplace for buying and selling academic materials</a:t>
            </a:r>
          </a:p>
          <a:p>
            <a:pPr lvl="1"/>
            <a:r>
              <a:rPr sz="1300"/>
              <a:t>Campus ride-sharing between Riphah campuses (verified peer network)</a:t>
            </a:r>
          </a:p>
          <a:p>
            <a:pPr lvl="1"/>
            <a:r>
              <a:rPr sz="1300"/>
              <a:t>Native mobile application (Android / iOS)</a:t>
            </a:r>
          </a:p>
          <a:p>
            <a:pPr/>
            <a:r>
              <a:rPr sz="500"/>
              <a:t/>
            </a:r>
          </a:p>
          <a:p>
            <a:pPr/>
            <a:r>
              <a:rPr b="1" sz="1400"/>
              <a:t>Design Principle:</a:t>
            </a:r>
          </a:p>
          <a:p>
            <a:pPr/>
            <a:r>
              <a:rPr b="1" sz="1300"/>
              <a:t>Modular architecture — </a:t>
            </a:r>
            <a:r>
              <a:rPr b="0" sz="1300"/>
              <a:t>each feature is an independent module. Phase 1 delivers a complete, fully valuable product on its own. Every future phase extends it without disruption.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 Why Riphah Konnect?</a:t>
            </a:r>
          </a:p>
        </p:txBody>
      </p:sp>
      <p:sp>
        <p:nvSpPr>
          <p:cNvPr id="3" name="Content Placeholder 2"/>
          <p:cNvSpPr>
            <a:spLocks noGrp="1"/>
          </p:cNvSpPr>
          <p:nvPr>
            <p:ph idx="1"/>
          </p:nvPr>
        </p:nvSpPr>
        <p:spPr/>
        <p:txBody>
          <a:bodyPr/>
          <a:lstStyle/>
          <a:p>
            <a:pPr/>
            <a:r>
              <a:rPr b="1" sz="1300"/>
              <a:t>The Concept Is Globally Proven: </a:t>
            </a:r>
            <a:r>
              <a:rPr b="0" sz="1300"/>
              <a:t>Unii (UK, 12+ years), UniLife (Australia), Facebook Campus (204 universities), Snapchat Campus — all four demonstrate that university-exclusive community platforms meet a real, sustained need.</a:t>
            </a:r>
          </a:p>
          <a:p>
            <a:pPr/>
            <a:r>
              <a:rPr sz="400"/>
              <a:t/>
            </a:r>
          </a:p>
          <a:p>
            <a:pPr/>
            <a:r>
              <a:rPr b="1" sz="1300"/>
              <a:t>The Gaps Are Specific and Documented: </a:t>
            </a:r>
            <a:r>
              <a:rPr b="0" sz="1300"/>
              <a:t>None provide smart event lifecycle management with engagement reports, campus engagement intelligence, a lost &amp; found module, or university admin moderation authority. Each gap is verifiable against the published feature set of all four platforms.</a:t>
            </a:r>
          </a:p>
          <a:p>
            <a:pPr/>
            <a:r>
              <a:rPr sz="400"/>
              <a:t/>
            </a:r>
          </a:p>
          <a:p>
            <a:pPr/>
            <a:r>
              <a:rPr b="1" sz="1300"/>
              <a:t>We Are Not Reinventing Everything: </a:t>
            </a:r>
            <a:r>
              <a:rPr b="0" sz="1300"/>
              <a:t>We build on what the global platforms already validated. Verified access, community feed, events, profiles, messaging — these work, and we include them. We add the four specific gaps they all leave open.</a:t>
            </a:r>
          </a:p>
          <a:p>
            <a:pPr/>
            <a:r>
              <a:rPr sz="400"/>
              <a:t/>
            </a:r>
          </a:p>
          <a:p>
            <a:pPr/>
            <a:r>
              <a:rPr b="1" sz="1300"/>
              <a:t>Pakistan Is an Unserved Market: </a:t>
            </a:r>
            <a:r>
              <a:rPr b="0" sz="1300"/>
              <a:t>Not because the need doesn’t exist — but because none of these global platforms operate here. Riphah is the right starting point: a defined user base, known pain points, and a clear institutional context.</a:t>
            </a:r>
          </a:p>
          <a:p>
            <a:pPr/>
            <a:r>
              <a:rPr sz="400"/>
              <a:t/>
            </a:r>
          </a:p>
          <a:p>
            <a:pPr/>
            <a:r>
              <a:rPr b="1" sz="1300"/>
              <a:t>Technically Feasible, Realistic Scope: </a:t>
            </a:r>
            <a:r>
              <a:rPr b="0" sz="1300"/>
              <a:t>Built on proven, production-grade technology. No external institutional dependencies in scope. Deliverable within FYP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162</TotalTime>
  <Words>62</Words>
  <Application>Microsoft Office PowerPoint</Application>
  <PresentationFormat>On-screen Show (4:3)</PresentationFormat>
  <Paragraphs>18</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Final Year Project Proposal</vt:lpstr>
      <vt:lpstr>Project Team</vt:lpstr>
      <vt:lpstr>Table of Content</vt:lpstr>
      <vt:lpstr>Opportunity &amp; Stakeholders</vt:lpstr>
      <vt:lpstr>PowerPoint Presentation</vt:lpstr>
      <vt:lpstr>Existing Systems</vt:lpstr>
      <vt:lpstr>PowerPoint Presentation</vt:lpstr>
      <vt:lpstr>Problem Statement</vt:lpstr>
      <vt:lpstr>PowerPoint Presentation</vt:lpstr>
      <vt:lpstr>Proposed Solution</vt:lpstr>
      <vt:lpstr>PowerPoint Presentation</vt:lpstr>
      <vt:lpstr>Project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Khan</dc:creator>
  <cp:lastModifiedBy>Muhammad Aadil ur Rehman</cp:lastModifiedBy>
  <cp:revision>14</cp:revision>
  <dcterms:created xsi:type="dcterms:W3CDTF">2013-01-22T07:04:44Z</dcterms:created>
  <dcterms:modified xsi:type="dcterms:W3CDTF">2022-10-04T21:17:43Z</dcterms:modified>
</cp:coreProperties>
</file>